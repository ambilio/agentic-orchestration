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73152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0" b="1" dirty="0">
                <a:solidFill>
                  <a:srgbClr val="1A2E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Synthesis &amp;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Agents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3.B  ·  2.5 Hours  ·  Data + Context → Narrative Reports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gave you data. Day 6 gave you requirements. Day 7: agents that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both into reports executives will actually read.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4892040"/>
            <a:ext cx="960120" cy="96012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03320" y="4892040"/>
            <a:ext cx="960120" cy="96012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46520" y="4892040"/>
            <a:ext cx="960120" cy="96012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89720" y="4892040"/>
            <a:ext cx="960120" cy="9601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65683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Agents for Business Analysis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SESSION OVERVIEW  ·  2.5 HOURS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Flow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737360" cy="2926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1508760"/>
            <a:ext cx="9326880" cy="2926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23160" y="1508760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801368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0136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801368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recap · from extraction to synthesis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2286000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2286000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something an 'insight' vs data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770632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2770632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7063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0:25–0:45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23160" y="2770632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pipeline: synthesize → draft → chart → verify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55264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3255264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552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0:45–1:05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3255264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data fusion (SQL + reqs + external)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39896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3739896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3989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1:05–1:25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3739896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the compression problem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224528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4224528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245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1:25–1:45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23160" y="4224528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generation with matplotlib + LLM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709160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4709160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7091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1:45–2:05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23160" y="4709160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verification (numbers match across sections)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193792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5193792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19379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2:05–2:30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23160" y="5193792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· Review · Q&amp;A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DAY 6 → DAY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Artifacts to Narrative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gave you data. Day 6 gave you structured requirements. Executives don't read tables — they read stories with numbers.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49240" cy="384048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 (Days 5-6)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715768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060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SQL results from ad-hoc queries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310128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200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requirements with source_utterance links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904488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7947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documents signed off by stakeholders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498848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389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across data and text sources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5093208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9834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Guardrail-validated outputs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1965960"/>
            <a:ext cx="53492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965960"/>
            <a:ext cx="5349240" cy="38404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96596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DAY 7 ADDS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2715768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6060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synthesis from multiple sources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310128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200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extraction — 'so what?' from raw numbers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3904488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7947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generation matched to insight tone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4498848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4389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compression (5000 words → 500)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5093208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49834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 consistency verification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 ·  INSIGHT vs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Something an 'Insight'?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isn't an insight. A trend isn't an insight. An insight names a REASON or IMPLICATION that changes what someone will do next.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94960" cy="384048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(not insight)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715768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060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'Q4 revenue was $12.4M'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493008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3832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'CSAT dropped 3 points'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270248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1605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'Churn is 4.2%'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5047488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9377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'Top region: NA'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965960"/>
            <a:ext cx="53949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965960"/>
            <a:ext cx="5394960" cy="384048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9659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(actionable)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2715768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26060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'Q4 revenue up 18% driven by enterprise renewals'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3493008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3832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'CSAT drop concentrated in mobile users on iOS 17'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4270248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41605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'Churn 4.2% — 2× peer median → retention priority'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5047488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9377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'NA dominates but APAC growing 3× — invest there'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  ·  THE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Pipeline — Five Stages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staged-pipeline lesson from Day 6. One-shot report generation misses insights and produces bland narratives.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96596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Gather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965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SQL results, requirements, external context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2194560"/>
            <a:ext cx="1965960" cy="64008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Synthesize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34640" y="3017520"/>
            <a:ext cx="1965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raw data into 3-7 candidate insights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2194560"/>
            <a:ext cx="196596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Draft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8660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20640" y="3017520"/>
            <a:ext cx="1965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narrative sections around confirmed insights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2194560"/>
            <a:ext cx="1965960" cy="640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Chart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7260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06640" y="3017520"/>
            <a:ext cx="1965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charts that reinforce each key insight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92640" y="2194560"/>
            <a:ext cx="1965960" cy="64008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Verify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0" y="3017520"/>
            <a:ext cx="1965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Cross-check: numbers in text = numbers in charts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11064240" cy="96012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21208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STAGE THIS PIPELINE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" y="553212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66928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One-shot 'write a report from this data' produces adjective salad — 'strong', 'impressive', 'notable'. Stage → insights first, narrative second.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 ·  DATA FUSION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Multi-Source Data for a BA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BA report doesn't come from one query. It fuses SQL results, extracted requirements, and external context into one coherent view.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402336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SOURCE TYPES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(Day 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265176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results, KPI baselines, historical trends. Numeric + tabular.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(Day 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370332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requirements, decisions from meetings, action items. Typed but human-language.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(Day 7)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475488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data, competitor benchmarks, regulatory guidance. Often free-text via web tools or MCP.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  ·  INSIGHT EXTRACTION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Get Insights, Not Just Descriptions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the model to test claims against data, not just describe data. The prompt design changes everything.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94960" cy="384048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PROMPT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'Summarize these Q4 numbers for the leadership team.'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Output: bulleted list of metrics, no 'so what?'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3949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965960"/>
            <a:ext cx="5394960" cy="384048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9659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PROMPT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26060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'Which 3 numbers here would most surprise a CFO who hasn't seen them? For each: why surprising, what to investigate.'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39776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Output: 3 actionable insights with reasoning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  ·  INSIGHT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Insight Extraction with Pydantic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02920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25603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BaseModel, Field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Literal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Insight(BaseModel):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claim: str                       # 'Enterprise renewal 3x YoY'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supporting_data: list[str]       # exact SQL row(s) that back this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surprise_level: Literal['low','medium','high']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recommended_action: str          # what to do about 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confidence: float = Field(ge=0.0, le=1.0)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InsightSet(BaseModel):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insights: list[Insight]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3949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 = llm.with_structured_output(InsightSet)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6692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structured.invoke(prompt)  # typed InsightSet, no free-text parsing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  ·  COMPRESSION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 — The Compression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words of analysis → 500-word summary → 5 bullet points for the board. Each compression stage loses information deliberately.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123444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report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 words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insights + supporting analysis + methodology + caveats. For analysts who need to reproduce.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064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337560"/>
            <a:ext cx="73152" cy="12344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8404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words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4747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3-5 insights + recommendations. For directors deciding priorities.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11064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709160"/>
            <a:ext cx="73152" cy="12344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46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bullets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2120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words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48463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1-line insights, no supporting text. For board pre-read; pointer to deeper doc.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7  ·  SUMMARY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Compression Chain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02920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25603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Progressive compression — each stage rewrites for a tighter audience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compress_for_audience(text: str, audience: str, word_limit: int) -&gt; str: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= f'''Rewrite this for {audience}. Hard limit: {word_limit} words.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Rules: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Preserve the TOP claims by importance, drop supporting detail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Every claim must retain its number (dollar amount, %, count)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No adjectives without data: 'strong growth' → '18% growth'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{text}'''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1206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llm.invoke(prompt).content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6692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exec_sum = compress_for_audience(full_report, 'CFO', 500)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 = compress_for_audience(exec_sum, 'board pre-read', 50)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8  ·  CHART GENERATION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Text-to-Chart — LLM Writes matplotlib 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doesn't PLOT the chart. Model writes matplotlib code, you execute it. Deterministic pixels, auditable code, easy to fix.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402336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GENERATE CODE, NOT PIXELS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51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Same chart every run — deterministic, not model-drawn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You can inspect + edit the code — no black box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Rerun on updated data without regenerating the prompt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572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Version-controllable — chart code lives with report 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Chart type is a decision by prompt: 'bar for regional comparison, line for time series'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9  ·  CHART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Generates matplotlib — You Execute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02920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25603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generate_chart(insight: Insight, data: dict) -&gt; bytes: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= f'''Write matplotlib code (Python) that plots this data 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reinforce this insight: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Insight: {insight.claim}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{data}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Pick the RIGHT chart type. Use plt.tight_layout(). No plt.show().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ONLY code, no fences.'''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code_str = llm.invoke(prompt).content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1206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ns = {'plt': plt, 'data': data}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3949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exec(code_str, ns)                # sandbox this in prod!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6692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_save_current_figure()      # return PNG bytes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10  ·  TRACEABILITY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 in the Report Traces to Its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traceability principle applied to Day 7: every number in the narrative points to the SQL result or requirement that produced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402336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REPORT-LEVEL TRACEABILITY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claims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26517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prose links to a SQL query ID + row range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Textual claims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331012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'Stakeholders wanted X' links to REQ-ID from Day 6 extraction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9684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3968496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caption includes source data reference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6268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4626864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links to the insight it derives from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2852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claims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528523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Web-sourced facts have URL + fetch timestamp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11  ·  CONSISTENCY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Cross-Section Consistency Checks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fail loudly when the number in the summary doesn't match the number in the chart. Automate this check.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178308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33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matching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prose must appear in the chart data or source table. Regex-extract numbers, verify each.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5394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965960"/>
            <a:ext cx="73152" cy="1783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alignment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51460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must be backed by at least one insight. Verify link.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94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31920"/>
            <a:ext cx="73152" cy="1783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6908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direction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48056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prose says 'growing', chart y-axis actually goes up. Sanity check with pixel or code parse.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931920"/>
            <a:ext cx="5394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931920"/>
            <a:ext cx="73152" cy="1783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06908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period consistency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448056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'Q4 revenue' in summary = 'Q4 revenue' in table = 'Q4 revenue' in chart. No mixed periods.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12  ·  MULTI-FORMAT OUTPUTS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Report — Three Rendered Formats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insight set, three deliverables. Format is a rendering decision, not a re-synthesis.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3566160" cy="64008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 (Markdown)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 Slack/email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862072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76148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prose, inline charts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913632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81304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insights + recommendations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965192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86460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appendix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965960"/>
            <a:ext cx="35661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965960"/>
            <a:ext cx="356616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Deck (PPTX)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9768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2862072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76148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insight per slide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3913632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81304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hero + 3 talking points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4965192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486460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notes with traces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1965960"/>
            <a:ext cx="35661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1965960"/>
            <a:ext cx="356616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(HTML)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reference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0" y="2862072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8200" y="276148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Auto-refreshed on data update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3913632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381304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interactivity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0" y="4965192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58200" y="486460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data toggleable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13  ·  HITL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Review Gate for High-Stakes Reports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memos, earnings-adjacent reports, regulatory filings — never auto-publish. Same interrupt_before pattern from Day 6.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94560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3464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017520" y="1965960"/>
            <a:ext cx="2194560" cy="77724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0" y="1965960"/>
            <a:ext cx="2194560" cy="7772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955280" y="1965960"/>
            <a:ext cx="2194560" cy="7772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Pause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interrupt_before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24128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332720" y="1965960"/>
            <a:ext cx="1280160" cy="77724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0" y="2011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108960"/>
            <a:ext cx="11064240" cy="292608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24612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SEES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7240" y="356616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70332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Full draft report with inline traceability markers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16052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Consistency check results — any warnings raised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61772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Confidence scores per insight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07492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Diff vs previous version (if updated report)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53212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One-click approve / request revisions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14  ·  FULL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Agent —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3120" cy="64008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'Q4 review'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26080" y="1691640"/>
            <a:ext cx="219456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737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reqs + web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1208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94960" y="1691640"/>
            <a:ext cx="219456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737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68096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863840" y="1691640"/>
            <a:ext cx="2194560" cy="640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737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audience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14984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241280" y="1691640"/>
            <a:ext cx="1371600" cy="64008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0" y="1737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8076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434840" y="2788920"/>
            <a:ext cx="329184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Generation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3484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code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8076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434840" y="3703320"/>
            <a:ext cx="329184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3749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Consistency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34840" y="4023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match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434840" y="4617720"/>
            <a:ext cx="3291840" cy="640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4663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Review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interrupt_before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4864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reuses Day 1-6 primitives. NEW skills: multi-source fusion, insight scoring, chart-code generation.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15  · 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Evaluate a Reporting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had exact-match on rows. Reports are subjective — evaluation is judgment-heavy.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182880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uniqueness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fresh reader learn something? Track: 'nothing surprising' rate should be low.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965960"/>
            <a:ext cx="73152" cy="18288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audit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514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Random-sample 5% of numeric claims. Verify each against source SQL. Target 99%+.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77640"/>
            <a:ext cx="73152" cy="18288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148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 utility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5262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BAs use this if it were free? Track adoption + repeat use, not just runs.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97764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977640"/>
            <a:ext cx="73152" cy="18288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1148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acceptance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45262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leadership approve on first review, or did it need revision? Trend the revision rate.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HANDS-ON LAB  ·  SANDBOX READY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Lab — Session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2062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BRIEF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051560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 · Insight Synthesis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Load Q4 SQL results + Day 6 requirements from disk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6243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Build Pydantic InsightSet schema with surprise_level + confidence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91693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LangGraph agent: gather → synthesize → rank → return top 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20954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Verify traceability — every insight names its source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50215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 · Report + Charts + Verification (~/agentic-lab/day7/lab2_report_charts.ipynb)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8221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Generate matplotlib chart code per insight; execute + capture PNG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Render full memo with inline traceability markers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4074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Consistency check: numbers in prose match numbers in charts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742432"/>
            <a:ext cx="11064240" cy="3200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742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 in VS Code:  ~/agentic-lab/day7/lab1_insight_synthesis.ipynb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6263640"/>
            <a:ext cx="11064240" cy="4572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73152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0" b="1" dirty="0">
                <a:solidFill>
                  <a:srgbClr val="1A2E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Wrap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≠ data — insights name reasons and imply actions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fusion: SQL + requirements + external context in one report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83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3832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surprise, not summary — 'what would a CFO not expect?'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862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8862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matplotlib code; you execute — deterministic charts, auditable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89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3891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 every number — numbers in prose must equal numbers in charts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64240" cy="105156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394960"/>
            <a:ext cx="91440" cy="10515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681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56692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8 · End-to-End BA Workflow + Capstone Kickoff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60350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Multi-agent orchestration combining Days 5-7   › Capstone project brief   › Shark Tank presentation format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65683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Agents for Business Analysis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 · Insight Synthesis &amp; Reporting Agents</dc:title>
  <dc:subject>PptxGenJS Presentation</dc:subject>
  <dc:creator>PptxGenJS</dc:creator>
  <cp:lastModifiedBy>PptxGenJS</cp:lastModifiedBy>
  <cp:revision>1</cp:revision>
  <dcterms:created xsi:type="dcterms:W3CDTF">2026-07-29T02:44:08Z</dcterms:created>
  <dcterms:modified xsi:type="dcterms:W3CDTF">2026-07-29T02:44:08Z</dcterms:modified>
</cp:coreProperties>
</file>