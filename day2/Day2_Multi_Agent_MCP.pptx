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0" y="-731520"/>
            <a:ext cx="6400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0" b="1" dirty="0">
                <a:solidFill>
                  <a:srgbClr val="162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3A</a:t>
            </a:r>
            <a:endParaRPr lang="en-US" sz="23000" dirty="0"/>
          </a:p>
        </p:txBody>
      </p:sp>
      <p:sp>
        <p:nvSpPr>
          <p:cNvPr id="3" name="Shape 1"/>
          <p:cNvSpPr/>
          <p:nvPr/>
        </p:nvSpPr>
        <p:spPr>
          <a:xfrm>
            <a:off x="548640" y="457200"/>
            <a:ext cx="2468880" cy="329184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058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Orchestration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MCP Authoring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3.A  ·  2.5 Hours  ·  LangGraph Multi-Agent  ·  CrewAI  ·  AG2  ·  FastMCP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 multi-agent systems with shared typed state; build role-based agent crews;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custom MCP servers with authentication and rate limiting.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34440" y="5029200"/>
            <a:ext cx="594360" cy="594360"/>
          </a:xfrm>
          <a:prstGeom prst="ellipse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8171" y="5162931"/>
            <a:ext cx="326898" cy="32689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571500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977640" y="5029200"/>
            <a:ext cx="594360" cy="594360"/>
          </a:xfrm>
          <a:prstGeom prst="ellipse">
            <a:avLst/>
          </a:prstGeom>
          <a:solidFill>
            <a:srgbClr val="1567A8"/>
          </a:solidFill>
          <a:ln w="12700">
            <a:solidFill>
              <a:srgbClr val="1567A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371" y="5162931"/>
            <a:ext cx="326898" cy="32689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11880" y="571500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720840" y="5029200"/>
            <a:ext cx="594360" cy="594360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571" y="5162931"/>
            <a:ext cx="326898" cy="3268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571500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AG2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9464040" y="5029200"/>
            <a:ext cx="594360" cy="594360"/>
          </a:xfrm>
          <a:prstGeom prst="ellipse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7771" y="5162931"/>
            <a:ext cx="326898" cy="32689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098280" y="571500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FastMCP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SESSION OVERVIEW  ·  2.5 HOURS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Flow &amp; Objectives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737360" cy="292608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0" y="1508760"/>
            <a:ext cx="9326880" cy="292608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423160" y="1508760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801368"/>
            <a:ext cx="1737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1801368"/>
            <a:ext cx="93268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0136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0:00–0:15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23160" y="1801368"/>
            <a:ext cx="9189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single-agent hits its limit — the case for multi-agent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212848"/>
            <a:ext cx="173736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0" y="2212848"/>
            <a:ext cx="932688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21284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0:15–0:30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23160" y="2212848"/>
            <a:ext cx="9189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patterns overview: supervisor, peer-to-peer, hierarchical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624328"/>
            <a:ext cx="1737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2624328"/>
            <a:ext cx="93268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62432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0:30–0:50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23160" y="2624328"/>
            <a:ext cx="9189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multi-agent: shared state + typed contracts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035808"/>
            <a:ext cx="173736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3035808"/>
            <a:ext cx="932688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03580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0:50–1:10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423160" y="3035808"/>
            <a:ext cx="9189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CrewAI: role-based agents with sequential and hierarchical process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447288"/>
            <a:ext cx="1737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0" y="3447288"/>
            <a:ext cx="93268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44728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1:10–1:25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423160" y="3447288"/>
            <a:ext cx="9189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AG2: GroupChatManager for production multi-agent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3858768"/>
            <a:ext cx="173736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0" y="3858768"/>
            <a:ext cx="932688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85876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1:25–1:35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423160" y="3858768"/>
            <a:ext cx="9189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decision table + selection guide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4270248"/>
            <a:ext cx="1737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0" y="4270248"/>
            <a:ext cx="93268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27024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1:35–1:50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423160" y="4270248"/>
            <a:ext cx="9189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protocol: tools, resources, prompts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4681728"/>
            <a:ext cx="173736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86000" y="4681728"/>
            <a:ext cx="932688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68172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1:50–2:05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423160" y="4681728"/>
            <a:ext cx="9189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FastMCP: authoring servers with auth + rate limiting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5093208"/>
            <a:ext cx="1737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0" y="5093208"/>
            <a:ext cx="93268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509320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2:05–2:15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423160" y="5093208"/>
            <a:ext cx="9189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 integration + full architecture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48640" y="5504688"/>
            <a:ext cx="173736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86000" y="5504688"/>
            <a:ext cx="932688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550468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2:15–2:30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423160" y="5504688"/>
            <a:ext cx="9189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preview · Review · Q&amp;A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2  ·  Session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  ·  THE MULTI-AGENT CASE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Single-Agent Hits Its Limit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 is fine until you hit one of these four walls. Then multi-agent stops being optional.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5349240" cy="384048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65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SINGLE-AGENT FAILURE MODES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3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ceiling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80720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steps of tool calls overflow context. Quality degrades silently.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3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bottleneck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58444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+ eligibility + fraud check run serially. 3× the wall-clock time.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406908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3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specialisation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36168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prompt trying to do 4 roles. All 4 outputs mediocre.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484632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3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failure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513892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node fails, full run fails. No partial recovery.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63640" y="1965960"/>
            <a:ext cx="53492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1965960"/>
            <a:ext cx="5349240" cy="384048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965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SOLUTIONS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37960" y="251460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contexts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37960" y="280720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owns one responsibility. Its context stays lean and relevant.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37960" y="329184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37960" y="358444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+ eligibility + fraud run concurrently. Wall-clock time drops by ~60%.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37960" y="406908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prompts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37960" y="436168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agent's prompt is tuned for its role. Quality lifts across all outputs.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37960" y="484632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failure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37960" y="513892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fails → retry bureau only. Other agent state preserved.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2  ·  Session 2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2  ·  PATTERN LANDSCAPE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Multi-Agent Patterns — At a Glance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pattern solves a different orchestration problem. Choose based on coupling and control needs.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204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3520440" cy="45720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659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control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31520" y="30632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workflows where routing depends on state values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41605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triage: supervisor routes to eligibility → bureau → memo based on scores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507492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33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31520" y="53035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becomes the bottleneck; watch for single-point-of-failure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97680" y="1965960"/>
            <a:ext cx="35204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0" y="1965960"/>
            <a:ext cx="3520440" cy="457200"/>
          </a:xfrm>
          <a:prstGeom prst="rect">
            <a:avLst/>
          </a:prstGeom>
          <a:solidFill>
            <a:srgbClr val="1567A8"/>
          </a:solidFill>
          <a:ln w="12700">
            <a:solidFill>
              <a:srgbClr val="1567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19659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Peer-to-Peer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80560" y="251460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480560" y="283464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56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480560" y="30632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A's output directly feeds Agent B; no central coordinator needed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80560" y="393192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56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480560" y="41605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pipeline: collector → scorer → formatter → escalator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80560" y="507492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33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480560" y="53035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ownership between peers can get muddy; use typed contracts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046720" y="1965960"/>
            <a:ext cx="35204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0" y="1965960"/>
            <a:ext cx="3520440" cy="45720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0" y="19659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Hierarchical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0" y="251460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supervisor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229600" y="283464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229600" y="30632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systems where supervisors themselves need specialists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29600" y="393192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229600" y="41605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platform: top supervisor → intake supervisor + routing supervisor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29600" y="507492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33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229600" y="53035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to debug; only when justified by complexity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2  ·  Session 2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3  ·  PATTERN DEEP DIVE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 1: Supervisor — Central Orchestration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supervisor node routes work to specialists based on current state. Specialists never call each other.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434840" y="1874520"/>
            <a:ext cx="3291840" cy="86868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34840" y="1947672"/>
            <a:ext cx="32918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34840" y="232623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based on state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46120" y="27889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↙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80760" y="27889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15400" y="27889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↘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3108960"/>
            <a:ext cx="2926080" cy="822960"/>
          </a:xfrm>
          <a:prstGeom prst="rect">
            <a:avLst/>
          </a:prstGeom>
          <a:solidFill>
            <a:srgbClr val="1567A8"/>
          </a:solidFill>
          <a:ln w="12700">
            <a:solidFill>
              <a:srgbClr val="1567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8211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Agent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536899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income + LTV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34840" y="3108960"/>
            <a:ext cx="3291840" cy="82296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31821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Agent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34840" y="3536899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credit score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412480" y="3108960"/>
            <a:ext cx="3108960" cy="82296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31821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 Agent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0" y="3536899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credit memo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0233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80760" y="40233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966960" y="40233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34840" y="4297680"/>
            <a:ext cx="3291840" cy="68580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4370832"/>
            <a:ext cx="32918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34840" y="46542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TypedDict + reducers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206240" y="44805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955280" y="44805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8640" y="5212080"/>
            <a:ext cx="11064240" cy="64008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2120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reads state, decides next node. Specialists write to state, return. Loop until END.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28700" y="5989320"/>
            <a:ext cx="3246120" cy="438912"/>
          </a:xfrm>
          <a:prstGeom prst="rect">
            <a:avLst/>
          </a:prstGeom>
          <a:solidFill>
            <a:srgbClr val="162A50"/>
          </a:solidFill>
          <a:ln w="12700">
            <a:solidFill>
              <a:srgbClr val="162A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8700" y="598932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FRAMING   ~60 min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457700" y="5989320"/>
            <a:ext cx="3246120" cy="43891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57700" y="598932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LAB   ~75 min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886700" y="5989320"/>
            <a:ext cx="3246120" cy="438912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86700" y="598932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Q&amp;A   ~15 min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2  ·  Session 2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3  ·  PATTERN DEEP DIVE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 2: Peer-to-Peer — Pipeline Handoffs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coordinator. Each agent writes to a shared state channel; next agent reads and processes.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2377440" cy="914400"/>
          </a:xfrm>
          <a:prstGeom prst="rect">
            <a:avLst/>
          </a:prstGeom>
          <a:solidFill>
            <a:srgbClr val="1567A8"/>
          </a:solidFill>
          <a:ln w="12700">
            <a:solidFill>
              <a:srgbClr val="1567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505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Agent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852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gathers raw data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37560" y="27889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703320" y="2377440"/>
            <a:ext cx="2377440" cy="9144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24505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 Agent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03320" y="2852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17920" y="27889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83680" y="2377440"/>
            <a:ext cx="2377440" cy="91440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4505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Formatter Agent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0" y="2852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prep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098280" y="27889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464040" y="2377440"/>
            <a:ext cx="2194560" cy="91440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64040" y="24505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Escalator Agent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464040" y="28529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routing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794760"/>
            <a:ext cx="11064240" cy="77724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7947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 Channel  ·  each agent writes its output field, reads from prior agent's field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754880"/>
            <a:ext cx="11064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754880"/>
            <a:ext cx="54864" cy="1051560"/>
          </a:xfrm>
          <a:prstGeom prst="rect">
            <a:avLst/>
          </a:prstGeom>
          <a:solidFill>
            <a:srgbClr val="1567A8"/>
          </a:solidFill>
          <a:ln w="12700">
            <a:solidFill>
              <a:srgbClr val="1567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86460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reach for peer-to-peer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" y="523036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Clear linear or fan-out data flow — no dynamic branching required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55046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Each agent's output is the input to exactly one next agent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2  ·  Session 2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3  ·  PATTERN DEEP DIVE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 3: Hierarchical — Supervisors of Supervisors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large systems: top supervisor delegates to sub-supervisors, each with their own team of specialists.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480560" y="1965960"/>
            <a:ext cx="3200400" cy="77724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80560" y="2039112"/>
            <a:ext cx="3200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SUPERVISOR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80560" y="2370125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triage entry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931920" y="27889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↙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66760" y="27889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↘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88720" y="3108960"/>
            <a:ext cx="3108960" cy="77724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3182112"/>
            <a:ext cx="31089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Sub-Supervisor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3513125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flow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863840" y="3108960"/>
            <a:ext cx="3108960" cy="77724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0" y="3182112"/>
            <a:ext cx="31089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Sub-Supervisor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63840" y="3513125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flow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737360" y="39319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↙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83280" y="39319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↘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39319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↙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0" y="39319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↘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2960" y="4251960"/>
            <a:ext cx="1417320" cy="640080"/>
          </a:xfrm>
          <a:prstGeom prst="rect">
            <a:avLst/>
          </a:prstGeom>
          <a:solidFill>
            <a:srgbClr val="1567A8"/>
          </a:solidFill>
          <a:ln w="12700">
            <a:solidFill>
              <a:srgbClr val="1567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2519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A1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331720" y="4251960"/>
            <a:ext cx="1417320" cy="640080"/>
          </a:xfrm>
          <a:prstGeom prst="rect">
            <a:avLst/>
          </a:prstGeom>
          <a:solidFill>
            <a:srgbClr val="1567A8"/>
          </a:solidFill>
          <a:ln w="12700">
            <a:solidFill>
              <a:srgbClr val="1567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31720" y="42519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A2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40480" y="4251960"/>
            <a:ext cx="1417320" cy="640080"/>
          </a:xfrm>
          <a:prstGeom prst="rect">
            <a:avLst/>
          </a:prstGeom>
          <a:solidFill>
            <a:srgbClr val="1567A8"/>
          </a:solidFill>
          <a:ln w="12700">
            <a:solidFill>
              <a:srgbClr val="1567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0" y="42519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A3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52360" y="4251960"/>
            <a:ext cx="1417320" cy="64008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52360" y="42519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B1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961120" y="4251960"/>
            <a:ext cx="1417320" cy="64008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61120" y="42519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B2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469880" y="4251960"/>
            <a:ext cx="1051560" cy="64008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69880" y="425196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B3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5074920"/>
            <a:ext cx="11064240" cy="77724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0749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Warning: hierarchical is the hardest to debug. Trace multiple levels of routing to find the failing agent.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7240" y="54406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choose when the flat supervisor pattern's routing dict would exceed ~10 entries. Below that, keep it flat.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2  ·  Session 2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4  ·  IMPLEMENTATION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 Multi-Agent: The Shared State Schema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766560" cy="4297680"/>
          </a:xfrm>
          <a:prstGeom prst="rect">
            <a:avLst/>
          </a:prstGeom>
          <a:solidFill>
            <a:srgbClr val="141824"/>
          </a:solidFill>
          <a:ln w="12700">
            <a:solidFill>
              <a:srgbClr val="1418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73352"/>
            <a:ext cx="914400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733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04672" y="207568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MultiAgentLoanState(TypedDict):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235000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Accumulative — every agent appends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62432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agent_log: Annotated[list, operator.add]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289864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317296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Owned fields — ONE agent writes each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" y="344728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3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eligibility_result: EligibilityResult   # Agent 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" y="372160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3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bureau_score: BureauScore               # Agent 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" y="399592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3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memo_draft: str                         # Agent 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" y="427024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454456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Supervisor's routing signal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" y="481888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current_agent: str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" y="509320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completed: list[str]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52360" y="1508760"/>
            <a:ext cx="4160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52360" y="1508760"/>
            <a:ext cx="73152" cy="137160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0" y="164592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Ownership rule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80960" y="196596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state field has exactly ONE agent that writes it. Two agents writing the same field = merge conflict at reducer level.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52360" y="2971800"/>
            <a:ext cx="4160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52360" y="2971800"/>
            <a:ext cx="73152" cy="137160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0" y="310896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8A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Accumulative fields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680960" y="342900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agent_log uses operator.add — every agent's log entries append. Nothing lost. Perfect for audit trail.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52360" y="4434840"/>
            <a:ext cx="4160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52360" y="4434840"/>
            <a:ext cx="73152" cy="1371600"/>
          </a:xfrm>
          <a:prstGeom prst="rect">
            <a:avLst/>
          </a:prstGeom>
          <a:solidFill>
            <a:srgbClr val="1567A8"/>
          </a:solidFill>
          <a:ln w="12700">
            <a:solidFill>
              <a:srgbClr val="1567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0" y="457200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 signal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680960" y="489204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current_agent lets the supervisor decide the next hop without needing external coordination.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2  ·  Session 2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5  ·  TYPED CONTRACTS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Pydantic Contracts as the Agent Interface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an agent writes has a Pydantic type. Agents that read that field bind to the type, not the raw dict.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64240" cy="4206240"/>
          </a:xfrm>
          <a:prstGeom prst="rect">
            <a:avLst/>
          </a:prstGeom>
          <a:solidFill>
            <a:srgbClr val="141824"/>
          </a:solidFill>
          <a:ln w="12700">
            <a:solidFill>
              <a:srgbClr val="1418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039112"/>
            <a:ext cx="914400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391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04672" y="244144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pydantic import BaseModel, Field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71576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typing import Literal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299008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326440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contract Agent A must fulfil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" y="353872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3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EligibilityResult(BaseModel):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" y="381304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passed: bool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" y="408736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score: float = Field(ge=0, le=100)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" y="436168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463600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contract Agent B must fulfil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" y="491032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3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BureauScore(BaseModel):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" y="518464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score: int = Field(ge=300, le=850)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" y="545896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tier: Literal['low', 'medium', 'high']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2  ·  Session 2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6  ·  CREWAI FRAMEWORK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CrewAI: Role-Based Multi-Agent Prototyping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PRIMITIVES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560320" cy="685800"/>
          </a:xfrm>
          <a:prstGeom prst="rect">
            <a:avLst/>
          </a:prstGeom>
          <a:solidFill>
            <a:srgbClr val="1567A8"/>
          </a:solidFill>
          <a:ln w="12700">
            <a:solidFill>
              <a:srgbClr val="1567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01952"/>
            <a:ext cx="25603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1854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+ goal + backstory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46120" y="21488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20440" y="1828800"/>
            <a:ext cx="2377440" cy="6858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901952"/>
            <a:ext cx="2377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20440" y="21854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expected_output typed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35040" y="21488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09360" y="1828800"/>
            <a:ext cx="2377440" cy="68580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901952"/>
            <a:ext cx="23774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09360" y="21854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+ tasks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823960" y="21488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098280" y="1828800"/>
            <a:ext cx="2514600" cy="68580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1901952"/>
            <a:ext cx="2514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kickoff()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098280" y="21854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crew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2743200"/>
            <a:ext cx="11064240" cy="3063240"/>
          </a:xfrm>
          <a:prstGeom prst="rect">
            <a:avLst/>
          </a:prstGeom>
          <a:solidFill>
            <a:srgbClr val="141824"/>
          </a:solidFill>
          <a:ln w="12700">
            <a:solidFill>
              <a:srgbClr val="14182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2907792"/>
            <a:ext cx="914400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9077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04672" y="331012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crewai import Agent, Task, Crew, Process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4672" y="358444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4672" y="385876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eligibility_agent = Agent(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4672" y="413308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role='Loan Eligibility Specialist',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4672" y="440740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goal='Assess loan eligibility against underwriting criteria.',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4672" y="468172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tools=[income_ratio_tool, ltv_tool])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4672" y="495604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4672" y="523036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3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eligibility_task = Task(description='Assess {application_id}',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4672" y="550468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expected_output='Eligibility report with pass/fail and score.', agent=eligibility_agent)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2  ·  Session 2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6  ·  CREWAI PROCESS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CrewAI: Sequential vs Hierarchical Process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5349240" cy="384048"/>
          </a:xfrm>
          <a:prstGeom prst="rect">
            <a:avLst/>
          </a:prstGeom>
          <a:solidFill>
            <a:srgbClr val="1567A8"/>
          </a:solidFill>
          <a:ln w="12700">
            <a:solidFill>
              <a:srgbClr val="1567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Process.sequential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execute in order. Each task's output is available to the next as context.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2743200"/>
            <a:ext cx="4892040" cy="502920"/>
          </a:xfrm>
          <a:prstGeom prst="rect">
            <a:avLst/>
          </a:prstGeom>
          <a:solidFill>
            <a:srgbClr val="1567A8"/>
          </a:solidFill>
          <a:ln w="12700">
            <a:solidFill>
              <a:srgbClr val="1567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816352"/>
            <a:ext cx="48920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004718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063240" y="32918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6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7240" y="3474720"/>
            <a:ext cx="4892040" cy="50292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547872"/>
            <a:ext cx="48920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736238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063240" y="40233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77240" y="4206240"/>
            <a:ext cx="4892040" cy="50292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279392"/>
            <a:ext cx="48920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4467758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77240" y="4892040"/>
            <a:ext cx="4892040" cy="105156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89204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workflow is truly linear.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reason about. Debug in order.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63640" y="150876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1508760"/>
            <a:ext cx="5349240" cy="384048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15087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Process.hierarchical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205740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manager LLM dynamically delegates tasks to agents based on context.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92240" y="2743200"/>
            <a:ext cx="4892040" cy="54864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281635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LLM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3028493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delegation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452360" y="33832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↙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921240" y="33832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↘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92240" y="3611880"/>
            <a:ext cx="2286000" cy="502920"/>
          </a:xfrm>
          <a:prstGeom prst="rect">
            <a:avLst/>
          </a:prstGeom>
          <a:solidFill>
            <a:srgbClr val="1567A8"/>
          </a:solidFill>
          <a:ln w="12700">
            <a:solidFill>
              <a:srgbClr val="1567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3611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1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098280" y="3611880"/>
            <a:ext cx="2286000" cy="502920"/>
          </a:xfrm>
          <a:prstGeom prst="rect">
            <a:avLst/>
          </a:prstGeom>
          <a:solidFill>
            <a:srgbClr val="1567A8"/>
          </a:solidFill>
          <a:ln w="12700">
            <a:solidFill>
              <a:srgbClr val="1567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98280" y="3611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2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92240" y="4892040"/>
            <a:ext cx="4892040" cy="105156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29400" y="489204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routing depends on runtime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 Watch: adds manager latency.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2  ·  Session 2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7  ·  AG2 FRAMEWORK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AG2: Production Multi-Agent with GroupChatManager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709160" y="1508760"/>
            <a:ext cx="2743200" cy="59436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09160" y="1581912"/>
            <a:ext cx="2743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GroupChatManager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817827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control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154680" y="17830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35240" y="17830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2468880" cy="594360"/>
          </a:xfrm>
          <a:prstGeom prst="rect">
            <a:avLst/>
          </a:prstGeom>
          <a:solidFill>
            <a:srgbClr val="1567A8"/>
          </a:solidFill>
          <a:ln w="12700">
            <a:solidFill>
              <a:srgbClr val="1567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581912"/>
            <a:ext cx="24688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817827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ConversableAgent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818120" y="1508760"/>
            <a:ext cx="2286000" cy="594360"/>
          </a:xfrm>
          <a:prstGeom prst="rect">
            <a:avLst/>
          </a:prstGeom>
          <a:solidFill>
            <a:srgbClr val="1567A8"/>
          </a:solidFill>
          <a:ln w="12700">
            <a:solidFill>
              <a:srgbClr val="1567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18120" y="1581912"/>
            <a:ext cx="2286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818120" y="1817827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ConversableAgent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287000" y="1508760"/>
            <a:ext cx="1325880" cy="59436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87000" y="150876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80760" y="21488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09160" y="2331720"/>
            <a:ext cx="2743200" cy="54864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4048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GroupChat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2617013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history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063240"/>
            <a:ext cx="11064240" cy="3200400"/>
          </a:xfrm>
          <a:prstGeom prst="rect">
            <a:avLst/>
          </a:prstGeom>
          <a:solidFill>
            <a:srgbClr val="141824"/>
          </a:solidFill>
          <a:ln w="12700">
            <a:solidFill>
              <a:srgbClr val="14182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3227832"/>
            <a:ext cx="914400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2278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04672" y="363016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autogen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4672" y="390448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4672" y="417880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planner = autogen.ConversableAgent(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4672" y="445312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name='Planner', system_message='Decompose the task.',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4672" y="472744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llm_config={'model': 'claude-sonnet-4-6', 'api_key': KEY})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4672" y="500176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4672" y="527608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3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group_chat = autogen.GroupChat(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4672" y="555040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agents=[planner, researcher, validator], max_round=10)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4672" y="582472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manager = autogen.GroupChatManager(groupchat=group_chat, llm_config=CFG)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2  ·  Session 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8  ·  DECISION FRAMEWORK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Framework Decision Table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063240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Factor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0" y="1508760"/>
            <a:ext cx="2606040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94760" y="15087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2606040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5087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961120" y="1508760"/>
            <a:ext cx="2606040" cy="384048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98280" y="15087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AG2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1892808"/>
            <a:ext cx="3063240" cy="585216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892808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persistence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0" y="1892808"/>
            <a:ext cx="2606040" cy="58521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4760" y="1892808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(PostgreSQL)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1892808"/>
            <a:ext cx="2606040" cy="58521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892808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3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961120" y="1892808"/>
            <a:ext cx="2606040" cy="58521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98280" y="1892808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3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496312"/>
            <a:ext cx="3063240" cy="585216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496312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/ interrupt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0" y="2496312"/>
            <a:ext cx="26060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94760" y="2496312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09360" y="2496312"/>
            <a:ext cx="26060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2496312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3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custom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961120" y="2496312"/>
            <a:ext cx="26060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98280" y="2496312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3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custom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099816"/>
            <a:ext cx="3063240" cy="585216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099816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time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0" y="3099816"/>
            <a:ext cx="2606040" cy="58521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94760" y="3099816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3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09360" y="3099816"/>
            <a:ext cx="2606040" cy="58521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3099816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(roles + tasks)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961120" y="3099816"/>
            <a:ext cx="2606040" cy="58521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98280" y="3099816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3703320"/>
            <a:ext cx="3063240" cy="585216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3703320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control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0" y="3703320"/>
            <a:ext cx="26060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94760" y="3703320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(code)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09360" y="3703320"/>
            <a:ext cx="26060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46520" y="3703320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(process)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961120" y="3703320"/>
            <a:ext cx="26060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98280" y="3703320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(GroupChat)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8640" y="4306824"/>
            <a:ext cx="3063240" cy="585216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4306824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0" y="4306824"/>
            <a:ext cx="2606040" cy="58521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94760" y="4306824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+ LangSmith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309360" y="4306824"/>
            <a:ext cx="2606040" cy="58521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46520" y="4306824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Verbose logging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961120" y="4306824"/>
            <a:ext cx="2606040" cy="58521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098280" y="4306824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logs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48640" y="4910328"/>
            <a:ext cx="3063240" cy="585216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" y="4910328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 case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657600" y="4910328"/>
            <a:ext cx="26060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94760" y="4910328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stateful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309360" y="4910328"/>
            <a:ext cx="26060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46520" y="4910328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prototype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8961120" y="4910328"/>
            <a:ext cx="26060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098280" y="4910328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conversations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48640" y="5623560"/>
            <a:ext cx="11064240" cy="32004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77240" y="56235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LangGraph if you need state or HITL. CrewAI for &lt; 1-day prototypes. AG2 when conversation control matters.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2  ·  Session 2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9  ·  MCP SPEC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MCP: The Three Primitives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is the standard for agent-to-tool and agent-to-data connectivity.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204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74520"/>
            <a:ext cx="3520440" cy="45720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745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Callable functions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2880360"/>
            <a:ext cx="146304" cy="146304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7889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calls; tool executes; result returned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3566160"/>
            <a:ext cx="146304" cy="146304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4747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I/O schema (JSON Schema or Pydantic)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4251960"/>
            <a:ext cx="146304" cy="146304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1605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fetch_credit_score(), create_ticket()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4937760"/>
            <a:ext cx="146304" cy="146304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8463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What you'll author with FastMCP today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97680" y="1874520"/>
            <a:ext cx="35204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1874520"/>
            <a:ext cx="3520440" cy="45720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18745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80560" y="242316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data sources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80560" y="2880360"/>
            <a:ext cx="146304" cy="146304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7889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structured data without side effects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80560" y="3566160"/>
            <a:ext cx="146304" cy="146304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4747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URI-based access: file://, db://, api://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80560" y="4251960"/>
            <a:ext cx="146304" cy="146304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41605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policy KB, applicant docs, EHR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80560" y="4937760"/>
            <a:ext cx="146304" cy="146304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48463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Exposed as read-only retrieval context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46720" y="1874520"/>
            <a:ext cx="35204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0" y="1874520"/>
            <a:ext cx="3520440" cy="457200"/>
          </a:xfrm>
          <a:prstGeom prst="rect">
            <a:avLst/>
          </a:prstGeom>
          <a:solidFill>
            <a:srgbClr val="1567A8"/>
          </a:solidFill>
          <a:ln w="12700">
            <a:solidFill>
              <a:srgbClr val="1567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46720" y="18745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29600" y="242316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templates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229600" y="2880360"/>
            <a:ext cx="146304" cy="146304"/>
          </a:xfrm>
          <a:prstGeom prst="rect">
            <a:avLst/>
          </a:prstGeom>
          <a:solidFill>
            <a:srgbClr val="1567A8"/>
          </a:solidFill>
          <a:ln w="12700">
            <a:solidFill>
              <a:srgbClr val="1567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03920" y="27889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prompt templates by name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229600" y="3566160"/>
            <a:ext cx="146304" cy="146304"/>
          </a:xfrm>
          <a:prstGeom prst="rect">
            <a:avLst/>
          </a:prstGeom>
          <a:solidFill>
            <a:srgbClr val="1567A8"/>
          </a:solidFill>
          <a:ln w="12700">
            <a:solidFill>
              <a:srgbClr val="1567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03920" y="34747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filled at runtime by the agent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229600" y="4251960"/>
            <a:ext cx="146304" cy="146304"/>
          </a:xfrm>
          <a:prstGeom prst="rect">
            <a:avLst/>
          </a:prstGeom>
          <a:solidFill>
            <a:srgbClr val="1567A8"/>
          </a:solidFill>
          <a:ln w="12700">
            <a:solidFill>
              <a:srgbClr val="1567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03920" y="41605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credit_memo, escalation_message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229600" y="4937760"/>
            <a:ext cx="146304" cy="146304"/>
          </a:xfrm>
          <a:prstGeom prst="rect">
            <a:avLst/>
          </a:prstGeom>
          <a:solidFill>
            <a:srgbClr val="1567A8"/>
          </a:solidFill>
          <a:ln w="12700">
            <a:solidFill>
              <a:srgbClr val="1567A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03920" y="48463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Standardises LLM interactions across teams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2  ·  Session 2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10  ·  MCP AUTHORING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FastMCP: Server Structure &amp; Tool Registration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766560" cy="4297680"/>
          </a:xfrm>
          <a:prstGeom prst="rect">
            <a:avLst/>
          </a:prstGeom>
          <a:solidFill>
            <a:srgbClr val="141824"/>
          </a:solidFill>
          <a:ln w="12700">
            <a:solidFill>
              <a:srgbClr val="1418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73352"/>
            <a:ext cx="914400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733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04672" y="207568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fastmcp import FastMCP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235000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pydantic import BaseModel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62432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289864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= FastMCP(name='Credit Bureau MCP')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317296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" y="344728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BureauResponse(BaseModel):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" y="372160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score: int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" y="399592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tier: str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" y="427024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454456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3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@mcp.tool()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" y="481888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get_credit_score(applicant_id: str) -&gt; BureauResponse: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" y="509320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 = await bureau_api.get(applicant_id)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" y="536752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BureauResponse(**data)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52360" y="1508760"/>
            <a:ext cx="4160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52360" y="1508760"/>
            <a:ext cx="73152" cy="137160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0" y="164592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@mcp.tool() decorator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680960" y="196596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the function. FastMCP generates JSON Schema from the type annotations automatically.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52360" y="2971800"/>
            <a:ext cx="4160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52360" y="2971800"/>
            <a:ext cx="73152" cy="137160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0" y="310896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8A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Typed returns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680960" y="342900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 Pydantic model. FastMCP validates it before sending — invalid = safe failure.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452360" y="4434840"/>
            <a:ext cx="4160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52360" y="4434840"/>
            <a:ext cx="73152" cy="1371600"/>
          </a:xfrm>
          <a:prstGeom prst="rect">
            <a:avLst/>
          </a:prstGeom>
          <a:solidFill>
            <a:srgbClr val="1567A8"/>
          </a:solidFill>
          <a:ln w="12700">
            <a:solidFill>
              <a:srgbClr val="1567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0" y="457200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 by default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680960" y="489204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 are I/O-bound. async lets multiple tool calls run concurrently.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2  ·  Session 2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11  ·  MCP SECURITY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FastMCP: Authentication &amp; Rate Limiting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766560" cy="4297680"/>
          </a:xfrm>
          <a:prstGeom prst="rect">
            <a:avLst/>
          </a:prstGeom>
          <a:solidFill>
            <a:srgbClr val="141824"/>
          </a:solidFill>
          <a:ln w="12700">
            <a:solidFill>
              <a:srgbClr val="1418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73352"/>
            <a:ext cx="914400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733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04672" y="207568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functools import wraps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235000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62432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289864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require_api_key(func):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317296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@wraps(func)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" y="344728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def wrapper(*args, api_key: str, **kwargs):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" y="372160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3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api_key != os.getenv('MCP_API_KEY'):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" y="399592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raise PermissionError('Invalid API key')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" y="427024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await func(*args, **kwargs)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454456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wrapper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" y="481888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" y="509320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Apply auth + rate limit to any mcp.tool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" y="5367528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3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@mcp.tool() @require_api_key @rate_limit(10)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52360" y="1508760"/>
            <a:ext cx="4160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52360" y="1508760"/>
            <a:ext cx="73152" cy="13716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0" y="164592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key in .env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680960" y="196596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MCP_API_KEY=secret. Client must pass api_key parameter on every call. Never hard-code.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52360" y="2971800"/>
            <a:ext cx="4160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52360" y="2971800"/>
            <a:ext cx="73152" cy="137160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0" y="310896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Token-bucket rate limit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680960" y="342900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calls per minute per API key. Refills over time. Prevents runaway agents from exhausting API quotas.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452360" y="4434840"/>
            <a:ext cx="4160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52360" y="4434840"/>
            <a:ext cx="73152" cy="137160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0" y="457200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8A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Decorator order matters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680960" y="489204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@mcp.tool() outermost, then @require_api_key, then @rate_limit. Auth fails before rate check.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2  ·  Session 2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12  ·  MCP CLIENT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Consuming an MCP Server from Your Agent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4572000"/>
          </a:xfrm>
          <a:prstGeom prst="rect">
            <a:avLst/>
          </a:prstGeom>
          <a:solidFill>
            <a:srgbClr val="141824"/>
          </a:solidFill>
          <a:ln w="12700">
            <a:solidFill>
              <a:srgbClr val="1418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73352"/>
            <a:ext cx="914400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733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04672" y="207568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mcp import ClientSession, StdioServerParameters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235000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mcp.client.stdio import stdio_client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62432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289864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Stdio transport — spawns the server process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317296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with stdio_client(StdioServerParameters(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" y="344728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command='python', args=['bureau_mcp.py'])) as (r, w):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" y="372160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with ClientSession(r, w) as session: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" y="399592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await session.initialize()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" y="427024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3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tools = await session.list_tools()   # dynamic discovery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454456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 = await session.call_tool('get_credit_score',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" y="481888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arguments={'applicant_id': 'A001', 'api_key': KEY})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" y="509320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" y="5367528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HTTP transport for production remote servers (see docs)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2  ·  Session 2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13  ·  COMPLETE SYSTEM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Complete System: Multi-Agent + MCP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434840" y="1691640"/>
            <a:ext cx="3291840" cy="64008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434840" y="17647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AGENT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434840" y="202448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 machine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46120" y="26060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↙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80760" y="26060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15400" y="26060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↘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2926080"/>
            <a:ext cx="2926080" cy="640080"/>
          </a:xfrm>
          <a:prstGeom prst="rect">
            <a:avLst/>
          </a:prstGeom>
          <a:solidFill>
            <a:srgbClr val="1567A8"/>
          </a:solidFill>
          <a:ln w="12700">
            <a:solidFill>
              <a:srgbClr val="1567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9260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Eligibility Agent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34840" y="2926080"/>
            <a:ext cx="3291840" cy="64008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2926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Bureau Agent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412480" y="2926080"/>
            <a:ext cx="3108960" cy="64008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2926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 Agent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0" y="37033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80760" y="37033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966960" y="37033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2960" y="3931920"/>
            <a:ext cx="2926080" cy="64008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0050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MCP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426476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FastMCP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434840" y="3931920"/>
            <a:ext cx="3291840" cy="64008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4840" y="40050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Bureau MCP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34840" y="426476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+ rate limit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412480" y="3931920"/>
            <a:ext cx="3108960" cy="64008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0" y="40050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MCP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12480" y="426476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resource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286000" y="4709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080760" y="4709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22960" y="4937760"/>
            <a:ext cx="2926080" cy="59436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010912"/>
            <a:ext cx="2926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API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5246827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5B6B82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434840" y="4937760"/>
            <a:ext cx="3291840" cy="59436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34840" y="5010912"/>
            <a:ext cx="3291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Bureau API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434840" y="5246827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5B6B82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" y="5623560"/>
            <a:ext cx="11064240" cy="32004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56235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LangGraph state; typed Pydantic contracts between agents; MCP tools with auth and rate limiting.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2  ·  Session 2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HANDS-ON LAB  ·  SANDBOX READY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 Lab — Session Build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20624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BRIEF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10515600" cy="18288"/>
          </a:xfrm>
          <a:prstGeom prst="rect">
            <a:avLst/>
          </a:prstGeom>
          <a:solidFill>
            <a:srgbClr val="1D3570"/>
          </a:solidFill>
          <a:ln w="12700">
            <a:solidFill>
              <a:srgbClr val="1D35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1 · 3-Agent LangGraph Supervisor Pattern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MultiAgentLoanState: owned fields per agent + agent_log (operator.add)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6243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Supervisor node routes via current_agent + completed list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91693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3 specialists with typed Pydantic outputs (EligibilityResult, BureauResult)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320954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Short-circuit to END when eligibility fails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350215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2 · FastMCP Server + Client (~/agentic-lab/day2/lab2_fastmcp_server.ipynb)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82219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@mcp.tool() with typed I/O + API key auth + 10/min rate limit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41148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stdio_client discovers tools, calls get_credit_score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44074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Integrate the MCP call into a LangGraph node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5742432"/>
            <a:ext cx="11064240" cy="32004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74243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Open in VS Code:  ~/agentic-lab/day2/lab1_multi_agent.ipynb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028700" y="5989320"/>
            <a:ext cx="3246120" cy="438912"/>
          </a:xfrm>
          <a:prstGeom prst="rect">
            <a:avLst/>
          </a:prstGeom>
          <a:solidFill>
            <a:srgbClr val="162A50"/>
          </a:solidFill>
          <a:ln w="12700">
            <a:solidFill>
              <a:srgbClr val="162A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8700" y="598932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FRAMING   ~60 min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457700" y="5989320"/>
            <a:ext cx="3246120" cy="43891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57700" y="598932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LAB   ~75 min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886700" y="5989320"/>
            <a:ext cx="3246120" cy="438912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86700" y="598932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Q&amp;A   ~15 min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  ·  Day 2  ·  Session 2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now own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623560" cy="4434840"/>
          </a:xfrm>
          <a:prstGeom prst="rect">
            <a:avLst/>
          </a:prstGeom>
          <a:solidFill>
            <a:srgbClr val="162A50"/>
          </a:solidFill>
          <a:ln w="12700">
            <a:solidFill>
              <a:srgbClr val="162A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27632"/>
            <a:ext cx="219456" cy="219456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276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" y="162763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patterns: supervisor, peer-to-peer, hierarchical — when each fits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2450592"/>
            <a:ext cx="219456" cy="219456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4505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5568" y="245059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multi-agent: shared TypedDict state + typed Pydantic contracts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3273552"/>
            <a:ext cx="219456" cy="219456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2735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5568" y="327355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CrewAI: role-based prototyping under 1 day; AG2 for production group conversations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4096512"/>
            <a:ext cx="219456" cy="219456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0965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5568" y="409651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three primitives: tools (callable), resources (readable), prompts (templates)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4919472"/>
            <a:ext cx="219456" cy="219456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9194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5568" y="491947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FastMCP: @mcp.tool() + typed returns + API key auth + token-bucket rate limit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46520" y="1417320"/>
            <a:ext cx="5212080" cy="443484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160020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75120" y="18745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 · A2A &amp; Enterprise Integration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75120" y="2514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A2A protocol: cross-vendor agent orchestration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2926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Salesforce, ServiceNow, SAP Ariba via MCP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75120" y="3337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MuleSoft CloudHub decision matrix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75120" y="3749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OAuth2 flow + circuit breaker patterns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656832"/>
            <a:ext cx="11064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Agentic Orchestration Engineer  ·  Track 3.A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 · Multi-Agent Orchestration &amp; MCP Authoring</dc:title>
  <dc:subject>PptxGenJS Presentation</dc:subject>
  <dc:creator>PptxGenJS</dc:creator>
  <cp:lastModifiedBy>PptxGenJS</cp:lastModifiedBy>
  <cp:revision>1</cp:revision>
  <dcterms:created xsi:type="dcterms:W3CDTF">2026-07-21T14:37:51Z</dcterms:created>
  <dcterms:modified xsi:type="dcterms:W3CDTF">2026-07-21T14:37:51Z</dcterms:modified>
</cp:coreProperties>
</file>