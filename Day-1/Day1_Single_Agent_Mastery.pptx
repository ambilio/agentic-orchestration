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-731520"/>
            <a:ext cx="6400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0" b="1" dirty="0">
                <a:solidFill>
                  <a:srgbClr val="162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3A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2468880" cy="329184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Single-Agent Mastery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SDK Landscape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3.A  ·  2.5 Hours  ·  LangGraph  ·  HITL  ·  Pydantic AI  ·  Vendor SDKs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stateful single-agent engineering with LangGraph, PostgreSQL checkpointing and HITL gates.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right framework for any use case using a rigorous 5-question heuristic.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34440" y="5029200"/>
            <a:ext cx="594360" cy="594360"/>
          </a:xfrm>
          <a:prstGeom prst="ellipse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171" y="5162931"/>
            <a:ext cx="326898" cy="32689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57150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977640" y="5029200"/>
            <a:ext cx="594360" cy="594360"/>
          </a:xfrm>
          <a:prstGeom prst="ellipse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371" y="5162931"/>
            <a:ext cx="326898" cy="32689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57150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720840" y="5029200"/>
            <a:ext cx="594360" cy="594360"/>
          </a:xfrm>
          <a:prstGeom prst="ellipse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571" y="516293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57150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9464040" y="5029200"/>
            <a:ext cx="594360" cy="59436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7771" y="5162931"/>
            <a:ext cx="326898" cy="32689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98280" y="57150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SDKs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SESSION OVERVIEW  ·  2.5 HOURS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Flow &amp; Objectives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737360" cy="29260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1508760"/>
            <a:ext cx="9326880" cy="29260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23160" y="150876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01368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1801368"/>
            <a:ext cx="9326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0136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0:00–0:15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1801368"/>
            <a:ext cx="9189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vs chains — the stateful execution model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212848"/>
            <a:ext cx="173736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2212848"/>
            <a:ext cx="932688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1284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0:15–0:30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23160" y="2212848"/>
            <a:ext cx="9189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schema: TypedDict + Annotated reducers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624328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2624328"/>
            <a:ext cx="9326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62432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0:30–0:45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23160" y="2624328"/>
            <a:ext cx="9189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Nodes, edges &amp; conditional routing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035808"/>
            <a:ext cx="173736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3035808"/>
            <a:ext cx="932688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03580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0:45–1:00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23160" y="3035808"/>
            <a:ext cx="9189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Studio: visual debugging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447288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0" y="3447288"/>
            <a:ext cx="9326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4472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1:00–1:15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23160" y="3447288"/>
            <a:ext cx="9189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checkpointing + thread IDs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858768"/>
            <a:ext cx="173736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0" y="3858768"/>
            <a:ext cx="932688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85876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1:15–1:35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423160" y="3858768"/>
            <a:ext cx="9189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HITL: interrupt_before/after + resume cycle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270248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0" y="4270248"/>
            <a:ext cx="9326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27024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1:35–1:50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423160" y="4270248"/>
            <a:ext cx="9189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AI typed tools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681728"/>
            <a:ext cx="173736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0" y="4681728"/>
            <a:ext cx="932688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68172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1:50–2:05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423160" y="4681728"/>
            <a:ext cx="9189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Agent SDK + OpenAI Agents SDK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5093208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0" y="5093208"/>
            <a:ext cx="9326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509320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2:05–2:15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423160" y="5093208"/>
            <a:ext cx="9189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selection: 5-question heuristic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5504688"/>
            <a:ext cx="173736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86000" y="5504688"/>
            <a:ext cx="932688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55046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2:15–2:30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423160" y="5504688"/>
            <a:ext cx="9189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preview · Review · Q&amp;A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1  ·  Session 1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  ·  THE ARCHITECTURE SHIFT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LangGraph? Chains Aren't Enough for Agents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question: does execution need to pause, branch, or resume based on state? If yes, chains break down.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5349240" cy="384048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MODEL (Stateless)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3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across steps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8072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LLM call is independent. State must be manually threaded via prompts.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3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pause execution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58444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way to stop, wait for human input, then continue from that exact point.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406908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3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dynamic branching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36168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is linear or coded ad-hoc — no first-class conditional edges.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3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resumability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513892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crash → restart from scratch. Long workflows are fragile.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1965960"/>
            <a:ext cx="53492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965960"/>
            <a:ext cx="5349240" cy="384048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965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MODEL (Stateful)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251460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typed state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28072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reads and writes to a shared TypedDict — state flows through the graph.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37960" y="329184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interrupt_before / interrupt_after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37960" y="358444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execution pause. Human decisions inject cleanly into paused runs.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37960" y="406908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37960" y="436168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functions return next node names — dynamic branching is first-class.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37960" y="484632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PostgreSQL-backed checkpointing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37960" y="513892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survives crashes. graph.invoke(None) resumes from last checkpoint.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1  ·  Session 1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2  ·  THE MENTAL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at the Centre; Nodes Read &amp; Write It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chain of prompts. A graph where every node operates on shared typed state.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846320" y="3200400"/>
            <a:ext cx="2468880" cy="100584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0" y="32735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0" y="3723437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TypedDict + Reducers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2148840"/>
            <a:ext cx="3017520" cy="822960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219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eligibility_check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576779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criteria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0" y="26060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21040" y="2148840"/>
            <a:ext cx="3017520" cy="822960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2219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bureau_lookup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321040" y="2576779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credit score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863840" y="26060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4434840"/>
            <a:ext cx="3017520" cy="8229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5079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human_review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862779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gate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0" y="4709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21040" y="4434840"/>
            <a:ext cx="3017520" cy="8229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45079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decision_draft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21040" y="4862779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outcome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863840" y="4709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162A50"/>
          </a:solidFill>
          <a:ln w="12700">
            <a:solidFill>
              <a:srgbClr val="162A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node's return value is merged into state via that field's reducer. All nodes see the latest values.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1  ·  Session 1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3  ·  STATE SCHEMA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TypedDict + Annotated: The Contract Between Nodes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16052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73352"/>
            <a:ext cx="914400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733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4672" y="20756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typing import TypedDict, Annotated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23500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operator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6243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89864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LoanState(TypedDict):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317296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application_id: str                # simple field (last write wins)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34472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loan_amount: float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37216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39959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operator.add appends each new value to the list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" y="427024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messages: Annotated[list, operator.add]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454456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48188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decision: str                      # "approved" | "rejected" | "review"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50932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human_feedback: dict               # populated by HITL gate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58521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the contract every node commits to. Change it mid-run and existing checkpoints become unreadable.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1  ·  Session 1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3  ·  REDUCERS EXPLAINED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Reducers: How State Fields Merge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349240" cy="54864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Field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annotation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node's return replaces the field. Last write wins.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971800"/>
            <a:ext cx="4892040" cy="41148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718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eligibility_score: float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5349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554480"/>
            <a:ext cx="5349240" cy="54864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73736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operator.add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05740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reducer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92240" y="23774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node's return is appended to the list. Nothing is ever lost.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2971800"/>
            <a:ext cx="4892040" cy="41148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9718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messages: Annotated[list, operator.add]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5349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703320"/>
            <a:ext cx="5349240" cy="54864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88620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8A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Reducer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20624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callable(a, b) → c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" y="45262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two-argument function. Common: dict merge, set union, max value.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5120640"/>
            <a:ext cx="4892040" cy="41148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1206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tools_used: Annotated[dict, lambda a,b: {**a,**b}]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63640" y="3703320"/>
            <a:ext cx="5349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3703320"/>
            <a:ext cx="5349240" cy="5486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388620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92240" y="420624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your contract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92240" y="45262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 reducer at runtime invalidates existing checkpoints — thread state won't load.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92240" y="5120640"/>
            <a:ext cx="4892040" cy="41148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51206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Migration: version fields; deprecate carefully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1  ·  Session 1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4  ·  GRAPH STRUCTURE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Nodes, Edges &amp; Conditional Routing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766560" cy="416052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73352"/>
            <a:ext cx="914400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733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4672" y="207568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langgraph.graph import StateGraph, START, END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235000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62432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 = StateGraph(LoanState)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89864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workflow.add_node('eligibility', check_eligibility)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317296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workflow.add_node('bureau', fetch_bureau_score)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344728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372160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Static edge — always goes here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399592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workflow.add_edge(START, 'eligibility')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" y="427024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454456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Conditional edge — routing fn returns next node name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481888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workflow.add_conditional_edges(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509320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'eligibility', route_by_score,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536752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{'high':'bureau', 'low': END, 'review':'human_review'})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589520" y="15087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FLOW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366760" y="1874520"/>
            <a:ext cx="2743200" cy="502920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0" y="2423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66760" y="2697480"/>
            <a:ext cx="2743200" cy="5029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6760" y="2697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eligibility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66760" y="32461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route_by_score()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601200" y="3429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589520" y="3794760"/>
            <a:ext cx="1234440" cy="45720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0" y="37947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006840" y="3794760"/>
            <a:ext cx="1234440" cy="4572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06840" y="37947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424160" y="3794760"/>
            <a:ext cx="1234440" cy="457200"/>
          </a:xfrm>
          <a:prstGeom prst="rect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24160" y="37947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589520" y="42976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006840" y="42976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human_review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424160" y="42976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589520" y="4709160"/>
            <a:ext cx="4069080" cy="960120"/>
          </a:xfrm>
          <a:prstGeom prst="rect">
            <a:avLst/>
          </a:prstGeom>
          <a:solidFill>
            <a:srgbClr val="162A50"/>
          </a:solidFill>
          <a:ln w="12700">
            <a:solidFill>
              <a:srgbClr val="162A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0" y="475488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STRING (node name)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routing function.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state dict.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28700" y="5989320"/>
            <a:ext cx="3246120" cy="438912"/>
          </a:xfrm>
          <a:prstGeom prst="rect">
            <a:avLst/>
          </a:prstGeom>
          <a:solidFill>
            <a:srgbClr val="162A50"/>
          </a:solidFill>
          <a:ln w="12700">
            <a:solidFill>
              <a:srgbClr val="162A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8700" y="598932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FRAMING   ~60 min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457700" y="5989320"/>
            <a:ext cx="3246120" cy="43891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57700" y="598932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LAB   ~75 min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886700" y="5989320"/>
            <a:ext cx="3246120" cy="438912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86700" y="598932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Q&amp;A   ~15 min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1  ·  Session 1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5  ·  DEV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 Studio: Visual Graph Debugging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(2 COMMANDS)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146304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93392"/>
            <a:ext cx="914400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93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04672" y="2395728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the local LangGraph server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670048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langgraph dev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944368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http://localhost:2024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CONFIG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349240" cy="274320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364992"/>
            <a:ext cx="914400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3649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— langgraph.json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04672" y="3767328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4041648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"dependencies": ["."],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4315968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"graphs": {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4590288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"agent": "./agent.py:graph"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4864608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" y="5138928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"env": ".env"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5413248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150876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 IN STUDIO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1828800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1828800"/>
            <a:ext cx="73152" cy="868680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19659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graph view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226771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nodes, edges and current execution position in real time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2788920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2788920"/>
            <a:ext cx="73152" cy="86868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29260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inspector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2240" y="322783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full state at every checkpoint — every field, every value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3640" y="3749040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3749040"/>
            <a:ext cx="73152" cy="8686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38862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interface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92240" y="418795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human decisions into paused runs directly from the UI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63640" y="4709160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63640" y="4709160"/>
            <a:ext cx="73152" cy="86868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48463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timeline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92240" y="514807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forward and backward through execution with state diffs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1  ·  Session 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6  ·  STATE PERSISTENCE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Checkpointing: SqliteSaver vs PostgresSaver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108960" cy="347472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0" y="1508760"/>
            <a:ext cx="3931920" cy="347472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4760" y="1508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SqliteSaver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589520" y="1508760"/>
            <a:ext cx="4023360" cy="347472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26680" y="1508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PostgresSaver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856232"/>
            <a:ext cx="3108960" cy="347472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8562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0" y="1856232"/>
            <a:ext cx="393192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18562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33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(dev only)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589520" y="1856232"/>
            <a:ext cx="402336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26680" y="18562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restart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221992"/>
            <a:ext cx="3108960" cy="347472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2219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Multi-process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0" y="2221992"/>
            <a:ext cx="3931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2221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33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process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589520" y="2221992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26680" y="2221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Multi-process safe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2587752"/>
            <a:ext cx="3108960" cy="347472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5877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0" y="2587752"/>
            <a:ext cx="393192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25877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33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experiments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589520" y="2587752"/>
            <a:ext cx="402336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26680" y="25877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workloads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2953512"/>
            <a:ext cx="3108960" cy="347472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29535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0" y="2953512"/>
            <a:ext cx="3931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94760" y="29535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config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589520" y="2953512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26680" y="29535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DATABASE_URL in .env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3319272"/>
            <a:ext cx="3108960" cy="347472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33192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isolation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0" y="3319272"/>
            <a:ext cx="393192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94760" y="33192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thread_id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589520" y="3319272"/>
            <a:ext cx="402336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26680" y="33192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thread_id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8640" y="39776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ID — ONE PER CONVERSATION / RUN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8640" y="4297680"/>
            <a:ext cx="11064240" cy="150876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1520" y="4462272"/>
            <a:ext cx="914400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44622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04672" y="48646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langgraph.checkpoint.postgres import PostgresSaver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04672" y="51389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DATABASE_URL=postgresql://labuser:labpass@localhost:5432/agentdb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04672" y="541324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= {'configurable': {'thread_id': f'loan-{application_id}'}}  # ← UNIQUE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1  ·  Session 1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7  ·  HUMAN-IN-THE-LOOP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HITL: The Interrupt Model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interrupt_before=['human_review'] causes the graph to PAUSE before that node. Human intervenes; graph resumes.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286000"/>
            <a:ext cx="1691640" cy="1051560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28600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graph.invoke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04288" y="26517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04872" y="2286000"/>
            <a:ext cx="1691640" cy="105156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04872" y="228600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eligibility node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0" y="26517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15384" y="2286000"/>
            <a:ext cx="1691640" cy="105156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15384" y="228600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bureau node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25312" y="26517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25896" y="2286000"/>
            <a:ext cx="1691640" cy="10515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25896" y="228600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⏸ INTERRUPT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35824" y="26517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836408" y="2286000"/>
            <a:ext cx="1691640" cy="10515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36408" y="228600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injects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46336" y="26517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646920" y="2286000"/>
            <a:ext cx="1691640" cy="10515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46920" y="228600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invoke(None) resume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794760"/>
            <a:ext cx="11064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794760"/>
            <a:ext cx="73152" cy="20116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9319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interrupt fires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429768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graph.compile(interrupt_before=['human_review']) — the interrupt is on COMPILE, not add_node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464515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When the graph reaches human_review, execution pauses before running that node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499262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State is checkpointed to PostgreSQL — safe if the process crashes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534009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Resume by calling graph.invoke(None, config) after updating state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1  ·  Session 1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7  ·  HITL PLACEMENT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interrupt_before vs interrupt_after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297680"/>
          </a:xfrm>
          <a:prstGeom prst="rect">
            <a:avLst/>
          </a:prstGeom>
          <a:solidFill>
            <a:srgbClr val="162A50"/>
          </a:solidFill>
          <a:ln w="12700">
            <a:solidFill>
              <a:srgbClr val="162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5349240" cy="3657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interrupt_BEFORE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2258568"/>
            <a:ext cx="219456" cy="219456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585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" y="21488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has NOT run yet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944368"/>
            <a:ext cx="219456" cy="219456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443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8346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can PREVENT the node from executing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630168"/>
            <a:ext cx="219456" cy="219456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301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35204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human must APPROVE before action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315968"/>
            <a:ext cx="219456" cy="219456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3159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" y="42062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stop before sending a customer email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166360"/>
            <a:ext cx="4892040" cy="50292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16636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graph.compile(interrupt_before=['send_email'])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1508760"/>
            <a:ext cx="5349240" cy="4297680"/>
          </a:xfrm>
          <a:prstGeom prst="rect">
            <a:avLst/>
          </a:prstGeom>
          <a:solidFill>
            <a:srgbClr val="162A50"/>
          </a:solidFill>
          <a:ln w="12700">
            <a:solidFill>
              <a:srgbClr val="162A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508760"/>
            <a:ext cx="5349240" cy="3657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50876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interrupt_AFTER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2258568"/>
            <a:ext cx="219456" cy="219456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22585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30568" y="21488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HAS run; output is in state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92240" y="2944368"/>
            <a:ext cx="219456" cy="219456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29443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30568" y="28346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can INSPECT and OVERRIDE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92240" y="3630168"/>
            <a:ext cx="219456" cy="219456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6301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30568" y="35204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human validates output before proceeding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92240" y="4315968"/>
            <a:ext cx="219456" cy="219456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43159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30568" y="42062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review credit memo before submission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92240" y="5166360"/>
            <a:ext cx="4892040" cy="50292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516636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graph.compile(interrupt_after=['draft_memo'])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1  ·  Session 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7  ·  HITL COMPLETE CYCLE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Resume Cycle in 5 Steps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73352"/>
            <a:ext cx="914400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733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4672" y="20756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Compile with HITL interrupt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23500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PostgresSaver.from_conn_string(os.environ['DATABASE_URL']) as cp: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6243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cp.setup()   # first run creates tables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89864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graph = workflow.compile(checkpointer=cp, interrupt_before=['human_review'])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317296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34472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2. Run — pauses before human_review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37216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 = {'configurable': {'thread_id': f'loan-{app_id}'}}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39959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graph.invoke(initial_state, config)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" y="427024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454456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3. Inspect, 4. Inject, 5. Resume with None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48188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 = graph.get_state(config)   # state.next = ('human_review',)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50932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graph.update_state(config, {'human_feedback': {'approved': True}})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53675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= graph.invoke(None, config)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1  ·  Session 1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8  ·  TYPED TOOLS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Pydantic AI: Schema-Enforced Tool I/O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766560" cy="429768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73352"/>
            <a:ext cx="914400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733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4672" y="207568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pydantic_ai import Agent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235000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pydantic_ai.models.openai import OpenAIModel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62432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pydantic_ai.providers.openai import OpenAIProvider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89864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317296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CreditScoreResult(BaseModel):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344728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score: int = Field(ge=300, le=850)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372160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tier: str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399592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" y="427024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OpenAIModel('anthropic/claude-sonnet-4.5',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454456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provider=OpenAIProvider(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481888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base_url='https://openrouter.ai/api/v1',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509320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api_key=os.environ['OPENROUTER_API_KEY']))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536752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Agent(model, output_type=CreditScoreResult)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52360" y="1508760"/>
            <a:ext cx="4160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52360" y="1508760"/>
            <a:ext cx="73152" cy="205740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16916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8A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validation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80960" y="2075688"/>
            <a:ext cx="3886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raises ValidationError before bad data enters state. Fail fast at the tool boundary, not at decision time.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52360" y="3703320"/>
            <a:ext cx="4160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52360" y="3703320"/>
            <a:ext cx="73152" cy="20574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38862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Auto-schema for the LLM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80960" y="4270248"/>
            <a:ext cx="3886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→ JSON Schema is automatic. The LLM knows exactly what shape to return, dramatically reducing hallucinated fields.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1  ·  Session 1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9  ·  VENDOR SDK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Agent SDK — MCP-First Design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51760" cy="502920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10512"/>
            <a:ext cx="26517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9887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19272" y="1920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11880" y="1737360"/>
            <a:ext cx="2651760" cy="5029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810512"/>
            <a:ext cx="26517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Agent SDK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11880" y="199887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query() loop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82512" y="1920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75120" y="1737360"/>
            <a:ext cx="2651760" cy="50292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810512"/>
            <a:ext cx="26517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199887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claude-sonnet-4.5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445752" y="1920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738360" y="1737360"/>
            <a:ext cx="1874520" cy="5029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38360" y="1810512"/>
            <a:ext cx="18745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738360" y="199887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2423160"/>
            <a:ext cx="11064240" cy="397764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2587752"/>
            <a:ext cx="914400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587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04672" y="29900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.env (already set by sandbox — see appendix)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" y="32644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ANTHROPIC_BASE_URL=https://openrouter.ai/api/v1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" y="35387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ANTHROPIC_AUTH_TOKEN=$OPENROUTER_API_KEY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" y="381304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ANTHROPIC_MODEL=anthropic/claude-sonnet-4.5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" y="408736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" y="43616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asyncio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" y="46360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claude_agent_sdk import query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" y="49103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" y="518464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main():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4672" y="545896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for msg in query(prompt='List files in this directory'):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4672" y="57332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print(msg)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4672" y="60076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asyncio.run(main())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1  ·  Session 1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10  ·  VENDOR SDK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 Agents SDK — Swarm &amp; Handoffs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PATTERN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468880" cy="502920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10512"/>
            <a:ext cx="24688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Agent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9887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36392" y="1920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29000" y="1737360"/>
            <a:ext cx="2468880" cy="5029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810512"/>
            <a:ext cx="24688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Agent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199887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16752" y="1920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09360" y="1737360"/>
            <a:ext cx="2468880" cy="5029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810512"/>
            <a:ext cx="24688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Agent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199887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897112" y="1920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89720" y="1737360"/>
            <a:ext cx="2423160" cy="50292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9720" y="1810512"/>
            <a:ext cx="24231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Agent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89720" y="199887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2423160"/>
            <a:ext cx="11064240" cy="397764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2587752"/>
            <a:ext cx="914400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587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04672" y="29900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" y="32644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agents import Agent, Runner, AsyncOpenAI, OpenAIChatCompletionsModel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" y="35387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agents import set_tracing_disabled; set_tracing_disabled(True)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" y="381304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" y="408736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AsyncOpenAI(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" y="43616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base_url='https://openrouter.ai/api/v1',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" y="46360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api_key=os.environ['OPENROUTER_API_KEY'])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" y="49103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" y="518464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Agent(name='Eligibility Specialist',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4672" y="545896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instructions='Check income ratio and LTV.',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4672" y="57332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model=OpenAIChatCompletionsModel(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4672" y="60076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model='openai/gpt-4o', openai_client=client))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1  ·  Session 1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11  ·  FRAMEWORK COMPARISON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 vs Claude Agent SDK vs OpenAI Agents SDK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508760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46120" y="1508760"/>
            <a:ext cx="2788920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55848" y="1508760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508760"/>
            <a:ext cx="2788920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36208" y="1508760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Agent SDK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006840" y="1508760"/>
            <a:ext cx="2697480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16568" y="1508760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1892808"/>
            <a:ext cx="2606040" cy="530352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892808"/>
            <a:ext cx="2386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model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1892808"/>
            <a:ext cx="278892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892808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persistent state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892808"/>
            <a:ext cx="278892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1892808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06840" y="1892808"/>
            <a:ext cx="269748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16568" y="1892808"/>
            <a:ext cx="2478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441448"/>
            <a:ext cx="2606040" cy="530352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441448"/>
            <a:ext cx="2386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2441448"/>
            <a:ext cx="2788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2441448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(SQLite / PG)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441448"/>
            <a:ext cx="2788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2441448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built-in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006840" y="2441448"/>
            <a:ext cx="2697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16568" y="2441448"/>
            <a:ext cx="2478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built-in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2990088"/>
            <a:ext cx="2606040" cy="530352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2990088"/>
            <a:ext cx="2386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46120" y="2990088"/>
            <a:ext cx="278892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55848" y="2990088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2990088"/>
            <a:ext cx="278892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36208" y="2990088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manually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006840" y="2990088"/>
            <a:ext cx="269748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16568" y="2990088"/>
            <a:ext cx="2478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manually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3538728"/>
            <a:ext cx="2606040" cy="530352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538728"/>
            <a:ext cx="2386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support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46120" y="3538728"/>
            <a:ext cx="2788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55848" y="3538728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tool adapters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26480" y="3538728"/>
            <a:ext cx="2788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36208" y="3538728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first-class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006840" y="3538728"/>
            <a:ext cx="2697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16568" y="3538728"/>
            <a:ext cx="2478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tool plugins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4087368"/>
            <a:ext cx="2606040" cy="530352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" y="4087368"/>
            <a:ext cx="2386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46120" y="4087368"/>
            <a:ext cx="278892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55848" y="4087368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subgraphs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26480" y="4087368"/>
            <a:ext cx="278892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36208" y="4087368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handoffs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006840" y="4087368"/>
            <a:ext cx="269748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16568" y="4087368"/>
            <a:ext cx="2478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Swarm/handoffs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48640" y="4636008"/>
            <a:ext cx="2606040" cy="530352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8368" y="4636008"/>
            <a:ext cx="2386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246120" y="4636008"/>
            <a:ext cx="2788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55848" y="4636008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126480" y="4636008"/>
            <a:ext cx="2788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36208" y="4636008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006840" y="4636008"/>
            <a:ext cx="2697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116568" y="4636008"/>
            <a:ext cx="2478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48640" y="5184648"/>
            <a:ext cx="2606040" cy="530352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8368" y="5184648"/>
            <a:ext cx="2386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246120" y="5184648"/>
            <a:ext cx="278892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55848" y="5184648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enterprise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126480" y="5184648"/>
            <a:ext cx="278892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36208" y="5184648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MCP-first flows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9006840" y="5184648"/>
            <a:ext cx="269748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116568" y="5184648"/>
            <a:ext cx="2478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prototypes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1  ·  Session 1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12  ·  DECISION FRAMEWORK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SDK Selection: The 5-Question Heuristic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54864" cy="77724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819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Does execution need to pause for human input (HITL)?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1892808"/>
            <a:ext cx="3474720" cy="32004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928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LangGraph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892808"/>
            <a:ext cx="3474720" cy="32004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8928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SDK is fine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377440"/>
            <a:ext cx="54864" cy="77724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4505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Does state need to persist across process restarts?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2761488"/>
            <a:ext cx="3474720" cy="32004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7614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LangGraph + PostgresSaver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43400" y="2761488"/>
            <a:ext cx="3474720" cy="32004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27614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SDK (pass context manually)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246120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246120"/>
            <a:ext cx="54864" cy="77724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3192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Is tool-calling MCP-first with minimal routing?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3630168"/>
            <a:ext cx="3474720" cy="32004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6301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Claude Agent SDK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43400" y="3630168"/>
            <a:ext cx="3474720" cy="32004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36301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LangGraph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114800"/>
            <a:ext cx="54864" cy="77724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1879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Do multiple agents need shared persistent typed state?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7240" y="4498848"/>
            <a:ext cx="3474720" cy="32004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4988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LangGraph multi-agent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43400" y="4498848"/>
            <a:ext cx="3474720" cy="32004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44988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OpenAI Swarm / Claude SDK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983480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4983480"/>
            <a:ext cx="54864" cy="77724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0566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Is this a rapid prototype under 1 day of build?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7240" y="5367528"/>
            <a:ext cx="3474720" cy="32004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53675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Claude or OpenAI SDK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43400" y="5367528"/>
            <a:ext cx="3474720" cy="32004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34840" y="53675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LangGraph (worth setup)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1  ·  Session 1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13  ·  OBSERVABILITY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LangSmith: First Trace from Day 1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once in .env; every graph.invoke is traced automatically. No code changes needed.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210312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039112"/>
            <a:ext cx="914400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391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04672" y="2441448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 in ~/agentic-lab/.env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715768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LANGSMITH_TRACING=true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990088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LANGSMITH_API_KEY=lsv2_sk_...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3264408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LANGSMITH_PROJECT=agentic-lab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5349240" cy="173736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279392"/>
            <a:ext cx="914400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279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04672" y="4681728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Optional — enrich traces with metadata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4956048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= {'configurable': {'thread_id': 'app-001'},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5230368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'run_name': 'loan-eligibility-v1',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5504688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'tags': ['day1', 'cohort-01']}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1874520"/>
            <a:ext cx="5349240" cy="9144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0116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tree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23317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node, latency, tokens at each step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2880360"/>
            <a:ext cx="5349240" cy="9144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0175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diffs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33375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which fields changed per node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3886200"/>
            <a:ext cx="5349240" cy="91440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0233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details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43434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traceback + last successful checkpoint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63640" y="4892040"/>
            <a:ext cx="5349240" cy="9144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50292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delay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2240" y="53492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arrive within 30s — this is normal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1  ·  Session 1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HANDS-ON LAB  ·  SANDBOX READY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Lab — Session Build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20624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BRIEF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10515600" cy="18288"/>
          </a:xfrm>
          <a:prstGeom prst="rect">
            <a:avLst/>
          </a:prstGeom>
          <a:solidFill>
            <a:srgbClr val="1D3570"/>
          </a:solidFill>
          <a:ln w="12700">
            <a:solidFill>
              <a:srgbClr val="1D35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1 · LangGraph Loan Eligibility Agent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Define LoanState: TypedDict with messages (Annotated + operator.add) and typed fields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6243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Implement 4 nodes: eligibility_check → bureau_lookup → human_review → decision_draft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91693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Add conditional routing based on eligibility score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2095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Attach PostgresSaver (postgresql://labuser:labpass@localhost:5432/agentdb)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5021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Add interrupt_before=['human_review'] and verify pause behaviour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3794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Wire LLM node with ChatOpenAI pointing at openrouter.ai/api/v1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408736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2 · SDK Comparison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4074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Rebuild the same eligibility check using Claude Agent SDK query() loop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47000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Compare: LOC, MCP integration effort, trace detail in LangSmith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742432"/>
            <a:ext cx="11064240" cy="32004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74243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Open in VS Code:  ~/agentic-lab/day1/lab1_loan_agent.ipynb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28700" y="5989320"/>
            <a:ext cx="3246120" cy="438912"/>
          </a:xfrm>
          <a:prstGeom prst="rect">
            <a:avLst/>
          </a:prstGeom>
          <a:solidFill>
            <a:srgbClr val="162A50"/>
          </a:solidFill>
          <a:ln w="12700">
            <a:solidFill>
              <a:srgbClr val="162A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8700" y="598932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FRAMING   ~60 min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457700" y="5989320"/>
            <a:ext cx="3246120" cy="43891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57700" y="598932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LAB   ~75 min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886700" y="5989320"/>
            <a:ext cx="3246120" cy="438912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86700" y="598932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Q&amp;A   ~15 min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1  ·  Session 1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now own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623560" cy="4434840"/>
          </a:xfrm>
          <a:prstGeom prst="rect">
            <a:avLst/>
          </a:prstGeom>
          <a:solidFill>
            <a:srgbClr val="162A50"/>
          </a:solidFill>
          <a:ln w="12700">
            <a:solidFill>
              <a:srgbClr val="162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27632"/>
            <a:ext cx="219456" cy="219456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276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" y="162763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graph execution with TypedDict + Annotated reducers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450592"/>
            <a:ext cx="219456" cy="219456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505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5568" y="245059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checkpointing — thread-isolated, crash-resilient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3273552"/>
            <a:ext cx="219456" cy="219456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735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5568" y="327355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HITL: interrupt_before + update_state + invoke(None) resume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4096512"/>
            <a:ext cx="219456" cy="219456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0965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5568" y="409651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AI typed tools — schema-enforced runtime validation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4919472"/>
            <a:ext cx="219456" cy="219456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9194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5568" y="491947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decision: LangGraph vs SDK in 5 questions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46520" y="1417320"/>
            <a:ext cx="5212080" cy="443484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16002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75120" y="1874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Multi-Agent Orchestration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75120" y="2514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Supervisor, peer-to-peer, hierarchical patterns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2926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CrewAI role-based agents + AG2 GroupChatManager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0" y="3337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MCP three primitives + FastMCP authoring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0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Auth and rate limiting for production MCP servers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· Single-Agent Mastery &amp; SDK Landscape</dc:title>
  <dc:subject>PptxGenJS Presentation</dc:subject>
  <dc:creator>PptxGenJS</dc:creator>
  <cp:lastModifiedBy>PptxGenJS</cp:lastModifiedBy>
  <cp:revision>1</cp:revision>
  <dcterms:created xsi:type="dcterms:W3CDTF">2026-07-21T08:37:46Z</dcterms:created>
  <dcterms:modified xsi:type="dcterms:W3CDTF">2026-07-21T08:37:46Z</dcterms:modified>
</cp:coreProperties>
</file>